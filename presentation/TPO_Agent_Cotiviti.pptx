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97" autoAdjust="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48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1183112" cy="562356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28016" cy="5623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914400"/>
            <a:ext cx="2011680" cy="310896"/>
          </a:xfrm>
          <a:prstGeom prst="roundRect">
            <a:avLst>
              <a:gd name="adj" fmla="val 20588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23544" y="950976"/>
            <a:ext cx="19019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5029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TPO Agent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86968" y="1965960"/>
            <a:ext cx="5486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AI for Healthcare Decision Support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96112" y="2743200"/>
            <a:ext cx="52578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4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reviewer-assist prototype for Treatment, Payment, and Operations workflows: policy evidence, ML pattern signals, local LLM reasoning, and governance controls in one traceable application.</a:t>
            </a:r>
            <a:endParaRPr lang="en-US" sz="1640" dirty="0"/>
          </a:p>
        </p:txBody>
      </p:sp>
      <p:sp>
        <p:nvSpPr>
          <p:cNvPr id="10" name="Shape 8"/>
          <p:cNvSpPr/>
          <p:nvPr/>
        </p:nvSpPr>
        <p:spPr>
          <a:xfrm>
            <a:off x="914400" y="425196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9264" y="4288536"/>
            <a:ext cx="10332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12848" y="425196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67712" y="4288536"/>
            <a:ext cx="10332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11296" y="425196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66160" y="4288536"/>
            <a:ext cx="12161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960120"/>
            <a:ext cx="4526280" cy="4480560"/>
          </a:xfrm>
          <a:prstGeom prst="roundRect">
            <a:avLst>
              <a:gd name="adj" fmla="val 1633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14032" y="1527048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Intake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247888" y="1527048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claim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903720" y="216712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14032" y="2276856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8247888" y="2276856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retrieval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903720" y="2916936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14032" y="3026664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247888" y="3026664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• cluster • anomaly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903720" y="3666744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14032" y="3776472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8247888" y="3776472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documentation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178040" y="45720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23760" y="4645152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012680" y="45720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094976" y="4672584"/>
            <a:ext cx="320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467258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Veerababu • TPO Agent project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716"/>
    </mc:Choice>
    <mc:Fallback>
      <p:transition spd="slow" advTm="517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Definition and TPO Frame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interprets the topic as a reviewer-assist workflow across clinical, payment, and operational review.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TPO = Treatment, Payment, and Operations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29968" y="2331720"/>
            <a:ext cx="621792" cy="621792"/>
          </a:xfrm>
          <a:prstGeom prst="ellipse">
            <a:avLst/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48256" y="2377440"/>
            <a:ext cx="585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context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necessity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737360" y="4681728"/>
            <a:ext cx="1234440" cy="292608"/>
          </a:xfrm>
          <a:prstGeom prst="roundRect">
            <a:avLst>
              <a:gd name="adj" fmla="val 21875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92224" y="4718304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0574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824728" y="2331720"/>
            <a:ext cx="621792" cy="621792"/>
          </a:xfrm>
          <a:prstGeom prst="ellipse">
            <a:avLst/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43016" y="2377440"/>
            <a:ext cx="585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review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amount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integrity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532120" y="4681728"/>
            <a:ext cx="1234440" cy="292608"/>
          </a:xfrm>
          <a:prstGeom prst="roundRect">
            <a:avLst>
              <a:gd name="adj" fmla="val 21875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86984" y="4718304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20574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19488" y="2331720"/>
            <a:ext cx="621792" cy="621792"/>
          </a:xfrm>
          <a:prstGeom prst="ellipse">
            <a:avLst/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37776" y="2377440"/>
            <a:ext cx="585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964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82396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routing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support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4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0" y="4681728"/>
            <a:ext cx="1234440" cy="292608"/>
          </a:xfrm>
          <a:prstGeom prst="roundRect">
            <a:avLst>
              <a:gd name="adj" fmla="val 21875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381744" y="4718304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58"/>
    </mc:Choice>
    <mc:Fallback>
      <p:transition spd="slow" advTm="499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Healthcare Review Needs Evidence and Control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review hard?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617720" cy="493776"/>
          </a:xfrm>
          <a:prstGeom prst="roundRect">
            <a:avLst>
              <a:gd name="adj" fmla="val 9259"/>
            </a:avLst>
          </a:prstGeom>
          <a:solidFill>
            <a:srgbClr val="EEF2F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alone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explain why a case is concerning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044952"/>
            <a:ext cx="4617720" cy="493776"/>
          </a:xfrm>
          <a:prstGeom prst="roundRect">
            <a:avLst>
              <a:gd name="adj" fmla="val 9259"/>
            </a:avLst>
          </a:prstGeom>
          <a:solidFill>
            <a:srgbClr val="EEF2F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313639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Chatbots alone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2468880" y="3136392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not be grounded in policy evidence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58184"/>
            <a:ext cx="4617720" cy="493776"/>
          </a:xfrm>
          <a:prstGeom prst="roundRect">
            <a:avLst>
              <a:gd name="adj" fmla="val 9259"/>
            </a:avLst>
          </a:prstGeom>
          <a:solidFill>
            <a:srgbClr val="EEF2F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3849624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documents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468880" y="3849624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payment and operational uncertainty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471416"/>
            <a:ext cx="4617720" cy="493776"/>
          </a:xfrm>
          <a:prstGeom prst="roundRect">
            <a:avLst>
              <a:gd name="adj" fmla="val 9259"/>
            </a:avLst>
          </a:prstGeom>
          <a:solidFill>
            <a:srgbClr val="EEF2F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51560" y="456285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accountability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2468880" y="4562856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traceability and reviewer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08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TPO Agent response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27889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93992" y="3090672"/>
            <a:ext cx="768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facts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662672" y="3127248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63840" y="27889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936992" y="3090672"/>
            <a:ext cx="768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evidence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805672" y="3127248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006840" y="27889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079992" y="3090672"/>
            <a:ext cx="768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signals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948672" y="3127248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149840" y="27889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222992" y="3090672"/>
            <a:ext cx="768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858000" y="4617720"/>
            <a:ext cx="4389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idea is not to automate decisions. It is to make review faster, evidence-based, and safer.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161"/>
    </mc:Choice>
    <mc:Fallback>
      <p:transition spd="slow" advTm="561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Trends, Opportunities, Threats, and Strategic Direction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23544" y="1700784"/>
            <a:ext cx="1078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is most useful as a reviewer-assist layer, not as an unsupervised decision engine.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664208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55664" y="1700784"/>
            <a:ext cx="1078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retrieval, documentation review, risk triage, anomaly monitoring, and reviewer productivity.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858768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23544" y="3895344"/>
            <a:ext cx="1078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Hallucination, black-box scoring, weak audit trails, and over-automation in sensitive workflows.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0" y="3858768"/>
            <a:ext cx="1188720" cy="274320"/>
          </a:xfrm>
          <a:prstGeom prst="roundRect">
            <a:avLst>
              <a:gd name="adj" fmla="val 23333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55664" y="3895344"/>
            <a:ext cx="1078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for Cotiviti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governed, auditable pilots that support payment integrity and review operations.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summarized from Cotiviti, CMS, ONC, NIST, and GAO materials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024"/>
    </mc:Choice>
    <mc:Fallback>
      <p:transition spd="slow" advTm="670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Overview: What I Built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tabbed Streamlit app that lets a reviewer move from intake to decision, evidence, signals, assistant, and data monitoring.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181051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Intake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12140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 synthetic case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45152" y="181051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12140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final recommendation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94192" y="181051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94192" y="212140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policy retrieval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96112" y="313639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Signals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cluster, anomaly, time-series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4480560" y="301752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45152" y="313639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Assistant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5152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case-specific questions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8229600" y="301752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94192" y="3136392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Monitor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synthetic charts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2286000" y="47091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0" y="500176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output: Request Documentation • High Risk • Human Review: Yes • Cluster: Moderate Pattern • Time-Series Signal: No spike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19"/>
    </mc:Choice>
    <mc:Fallback>
      <p:transition spd="slow" advTm="2361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Workflow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component has one job, creating a traceable chain from case input to reviewer recommendation.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8992" y="2359152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2144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Intake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938528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21992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06624" y="2359152"/>
            <a:ext cx="347472" cy="347472"/>
          </a:xfrm>
          <a:prstGeom prst="ellipse">
            <a:avLst/>
          </a:prstGeom>
          <a:solidFill>
            <a:srgbClr val="21324C"/>
          </a:solidFill>
          <a:ln w="12700">
            <a:solidFill>
              <a:srgbClr val="213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79776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Retrieval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9624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34256" y="2359152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07408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59352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Prediction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93792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77256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61888" y="2359152"/>
            <a:ext cx="347472" cy="347472"/>
          </a:xfrm>
          <a:prstGeom prst="ellipse">
            <a:avLst/>
          </a:prstGeom>
          <a:solidFill>
            <a:srgbClr val="21324C"/>
          </a:solidFill>
          <a:ln w="12700">
            <a:solidFill>
              <a:srgbClr val="213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0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86984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Signals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21424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04888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589520" y="2359152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62672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14616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32520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217152" y="2359152"/>
            <a:ext cx="347472" cy="347472"/>
          </a:xfrm>
          <a:prstGeom prst="ellipse">
            <a:avLst/>
          </a:prstGeom>
          <a:solidFill>
            <a:srgbClr val="21324C"/>
          </a:solidFill>
          <a:ln w="12700">
            <a:solidFill>
              <a:srgbClr val="213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290304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842248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Reasoning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076688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360152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844784" y="2359152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917936" y="24323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46988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880360" y="4617720"/>
            <a:ext cx="6355080" cy="777240"/>
          </a:xfrm>
          <a:prstGeom prst="roundRect">
            <a:avLst>
              <a:gd name="adj" fmla="val 9412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0" y="4882896"/>
            <a:ext cx="5760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output: Approve • Manual Review • Request Documentation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346"/>
    </mc:Choice>
    <mc:Fallback>
      <p:transition spd="slow" advTm="5934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Recognition and Grounded Reasoning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recognition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1828800" cy="987552"/>
          </a:xfrm>
          <a:prstGeom prst="roundRect">
            <a:avLst>
              <a:gd name="adj" fmla="val 5556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07208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8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017520" y="2377440"/>
            <a:ext cx="182880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807208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KMeans</a:t>
            </a:r>
            <a:endParaRPr lang="en-US" sz="108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group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3794760"/>
            <a:ext cx="1828800" cy="987552"/>
          </a:xfrm>
          <a:prstGeom prst="roundRect">
            <a:avLst>
              <a:gd name="adj" fmla="val 5556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anomaly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224528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</a:t>
            </a:r>
            <a:endParaRPr lang="en-US" sz="108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case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017520" y="3794760"/>
            <a:ext cx="182880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08960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signal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4224528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activity</a:t>
            </a:r>
            <a:endParaRPr lang="en-US" sz="108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signal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+ local LLM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35240" y="2331720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0" y="2414016"/>
            <a:ext cx="2423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facts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8796528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35240" y="2990088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0" y="3072384"/>
            <a:ext cx="2423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ChromaDB retrieval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8796528" y="341071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35240" y="3648456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0" y="3730752"/>
            <a:ext cx="2423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evidence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8796528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35240" y="4306824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772400" y="4389120"/>
            <a:ext cx="2423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reasoning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796528" y="4727448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35240" y="4965192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72400" y="5047488"/>
            <a:ext cx="2423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explanation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456"/>
    </mc:Choice>
    <mc:Fallback>
      <p:transition spd="slow" advTm="6445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and Human Review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can support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cannot decide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254203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14984" y="2578608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policy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3108960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4984" y="3145536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risk and pattern signals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367588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14984" y="3712464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case needs attention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4242816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14984" y="4279392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reviewer next steps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54203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38544" y="2578608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PHI or real claims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108960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38544" y="3145536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autonomously deny care or payment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67588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38544" y="3712464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 facts outside case or policy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4242816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38544" y="4279392"/>
            <a:ext cx="4050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 qualified human reviewer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80360" y="5715000"/>
            <a:ext cx="6492240" cy="347472"/>
          </a:xfrm>
          <a:prstGeom prst="roundRect">
            <a:avLst>
              <a:gd name="adj" fmla="val 21053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54680" y="5788152"/>
            <a:ext cx="59436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6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only • Evidence required • Human review retained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• Reviewer-assist workflow • Human review retained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597"/>
    </mc:Choice>
    <mc:Fallback>
      <p:transition spd="slow" advTm="545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13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Project Proves and Where It Can Go Next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2144" y="2642616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can ground explanations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3264408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52144" y="3300984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can surface reviewer signals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3922776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52144" y="3959352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can keep AI in a support role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2606040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55464" y="2642616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264408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55464" y="3300984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policies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922776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55464" y="3959352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time-series 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160020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2104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path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2606040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58784" y="2642616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datasets + audit logs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3264408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EF2F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58784" y="3300984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monitoring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3922776"/>
            <a:ext cx="2423160" cy="347472"/>
          </a:xfrm>
          <a:prstGeom prst="roundRect">
            <a:avLst>
              <a:gd name="adj" fmla="val 18421"/>
            </a:avLst>
          </a:prstGeom>
          <a:solidFill>
            <a:srgbClr val="E6F7F7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58784" y="3959352"/>
            <a:ext cx="23134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13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feedback loops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394960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14400" y="5577840"/>
            <a:ext cx="10378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references: Cotiviti payment accuracy materials • CMS improper payments and technology-assisted review • ONC HTI-1 algorithm transparency • NIST AI risk guidance • GAO documentation/payment risk literature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276"/>
    </mc:Choice>
    <mc:Fallback>
      <p:transition spd="slow" advTm="8127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710</Words>
  <Application>Microsoft Office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Cotiviti Intern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TPO Agent: Governed AI for Healthcare Decision Support</dc:title>
  <dc:subject>TPO Agent</dc:subject>
  <dc:creator>Veerababu</dc:creator>
  <cp:lastModifiedBy>Veerababu Addanki</cp:lastModifiedBy>
  <cp:revision>2</cp:revision>
  <dcterms:created xsi:type="dcterms:W3CDTF">2026-06-29T01:05:46Z</dcterms:created>
  <dcterms:modified xsi:type="dcterms:W3CDTF">2026-06-29T22:44:26Z</dcterms:modified>
</cp:coreProperties>
</file>